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c500057fb2f45ff" Type="http://schemas.openxmlformats.org/package/2006/relationships/metadata/core-properties" Target="docProps/core.xml"/><Relationship Id="R9e8f70393ab3492c" Type="http://schemas.openxmlformats.org/officeDocument/2006/relationships/officeDocument" Target="ppt/presentation.xml"/><Relationship Id="Rdd74ecfd109d468b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31afe926f7460b"/>
  </p:sldMasterIdLst>
  <p:notesMasterIdLst>
    <p:notesMasterId xmlns:r="http://schemas.openxmlformats.org/officeDocument/2006/relationships" r:id="Ra9ef64fb3c1247e6"/>
  </p:notesMasterIdLst>
  <p:sldIdLst>
    <p:sldId xmlns:r="http://schemas.openxmlformats.org/officeDocument/2006/relationships" id="256" r:id="Rcafe64d1a6654e9b"/>
    <p:sldId xmlns:r="http://schemas.openxmlformats.org/officeDocument/2006/relationships" id="257" r:id="Raf022f8dcc104a2d"/>
    <p:sldId xmlns:r="http://schemas.openxmlformats.org/officeDocument/2006/relationships" id="258" r:id="R3875a4d91be544ec"/>
    <p:sldId xmlns:r="http://schemas.openxmlformats.org/officeDocument/2006/relationships" id="259" r:id="Ra0fcaed6251949e0"/>
    <p:sldId xmlns:r="http://schemas.openxmlformats.org/officeDocument/2006/relationships" id="260" r:id="Rf25b44a99fa24bbe"/>
    <p:sldId xmlns:r="http://schemas.openxmlformats.org/officeDocument/2006/relationships" id="261" r:id="R78e2ff203b2a41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2809a486d8624d7f" Type="http://schemas.openxmlformats.org/officeDocument/2006/relationships/tableStyles" Target="tableStyles.xml"/><Relationship Id="R3875a4d91be544ec" Type="http://schemas.openxmlformats.org/officeDocument/2006/relationships/slide" Target="slides/slide3.xml"/><Relationship Id="R78e2ff203b2a413e" Type="http://schemas.openxmlformats.org/officeDocument/2006/relationships/slide" Target="slides/slide6.xml"/><Relationship Id="R8b02a045b16e4c48" Type="http://schemas.openxmlformats.org/officeDocument/2006/relationships/theme" Target="theme/theme1.xml"/><Relationship Id="Ra0fcaed6251949e0" Type="http://schemas.openxmlformats.org/officeDocument/2006/relationships/slide" Target="slides/slide4.xml"/><Relationship Id="Ra9ef64fb3c1247e6" Type="http://schemas.openxmlformats.org/officeDocument/2006/relationships/notesMaster" Target="notesMasters/notesMaster1.xml"/><Relationship Id="Raf022f8dcc104a2d" Type="http://schemas.openxmlformats.org/officeDocument/2006/relationships/slide" Target="slides/slide2.xml"/><Relationship Id="Rc81491ca6bb144b3" Type="http://schemas.openxmlformats.org/officeDocument/2006/relationships/presProps" Target="presProps.xml"/><Relationship Id="Rcafe64d1a6654e9b" Type="http://schemas.openxmlformats.org/officeDocument/2006/relationships/slide" Target="slides/slide1.xml"/><Relationship Id="Rdf31afe926f7460b" Type="http://schemas.openxmlformats.org/officeDocument/2006/relationships/slideMaster" Target="slideMasters/slideMaster1.xml"/><Relationship Id="Rf25b44a99fa24bbe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91c95379432244a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7aec5cf7073404a" Type="http://schemas.openxmlformats.org/officeDocument/2006/relationships/slide" Target="../slides/slide1.xml"/><Relationship Id="Rb838245b393b4bb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28107ab2fcb4727" Type="http://schemas.openxmlformats.org/officeDocument/2006/relationships/slide" Target="../slides/slide2.xml"/><Relationship Id="Re63454c148464c8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7c2881141a74138" Type="http://schemas.openxmlformats.org/officeDocument/2006/relationships/notesMaster" Target="../notesMasters/notesMaster1.xml"/><Relationship Id="R84f7c3c35587412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b6c27ecb608e449b" Type="http://schemas.openxmlformats.org/officeDocument/2006/relationships/slide" Target="../slides/slide4.xml"/><Relationship Id="Rfb830d393fab4514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c8f3c12d81946b9" Type="http://schemas.openxmlformats.org/officeDocument/2006/relationships/slide" Target="../slides/slide5.xml"/><Relationship Id="R728503c6fca7496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5c08b71c0024eaa" Type="http://schemas.openxmlformats.org/officeDocument/2006/relationships/slide" Target="../slides/slide6.xml"/><Relationship Id="R9be942af37b2448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de la actividad: PDF “Actividad 1 2026-2” suministrado por la estudiante. La imagen es una ilustración conceptual del proyecto, no una fotografía del cultivo.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enunciado PDF “Actividad 1 2026-2”. El criterio de evaluación nombra AWS de forma explícita; la estudiante confirmó que el docente acepta Azure.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wokwi/sketch.ino, server/mqtt_bridge.py y server/app.py. MQTT es público y sirve solo para datos simulados; la lectura de Wokwi se verificó en Azure el 17 de octubre de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prueba server/test_app.py ejecutada localmente. El ejemplo corresponde a datos de prueba, no a una lectura enviada desde Wokwi ni a una medición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Despliegue comprobado el 17 de octubre de 2026 en Azure for Students. La estudiante confirmó que el docente acepta Azure. Referencias: https://learn.microsoft.com/en-us/azure/postgresql/flexible-server/concepts-networking-private y https://learn.microsoft.com/en-us/azure/virtual-machines/linux/quick-create-bicep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Enlace al repositorio: https://github.com/nathernandez1189/savia-iot . Enlace Wokwi: https://wokwi.com/projects/477744536654042113 . Evidencia puntual del 17 de octubre de 2026; MQTT es público y no autentica al emisor. Los recursos de nube generan costos y deben retirarse después de la clase.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eac509d91d54c3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b2a7272a21a04b7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eb45b34476e4149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57d93cfad9fe44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800e3ec8f5704bd7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833607f5ee8a41f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246898-DB48-4E11-825F-565BC595D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A9D7A7-D662-4924-9147-D4B8614693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1A661B-6086-42AE-BC66-95EA7BAD3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B51797-EB7E-4269-BB1B-350FEEC04F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4CD8CC-96FA-4234-9543-2ADAFDCFF5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5D30D1-3AAB-4C50-A2F9-AC24648E7A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4FC586-71B7-46B0-8CEE-D764141D5D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E06BA4-DB46-4100-B6F5-2680D71B62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6A983A-A5B8-4420-B4C6-D9987B71B2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1AACA6-63EF-424E-896B-F61D75A70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8cbd88aa3f144b1" Type="http://schemas.openxmlformats.org/officeDocument/2006/relationships/slideLayout" Target="../slideLayouts/slideLayout6.xml"/><Relationship Id="R1c8335f9964f47ff" Type="http://schemas.openxmlformats.org/officeDocument/2006/relationships/slideLayout" Target="../slideLayouts/slideLayout2.xml"/><Relationship Id="R1d346fe4107b42d2" Type="http://schemas.openxmlformats.org/officeDocument/2006/relationships/slideLayout" Target="../slideLayouts/slideLayout5.xml"/><Relationship Id="R3bd52adbe8be4bd8" Type="http://schemas.openxmlformats.org/officeDocument/2006/relationships/slideLayout" Target="../slideLayouts/slideLayout1.xml"/><Relationship Id="R56008844286042d9" Type="http://schemas.openxmlformats.org/officeDocument/2006/relationships/theme" Target="theme/theme2.xml"/><Relationship Id="R9f0ac36c5eb34cbe" Type="http://schemas.openxmlformats.org/officeDocument/2006/relationships/slideLayout" Target="../slideLayouts/slideLayout4.xml"/><Relationship Id="Ra8127a9167814921" Type="http://schemas.openxmlformats.org/officeDocument/2006/relationships/slideLayout" Target="../slideLayouts/slideLayout3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52adbe8be4bd8"/>
    <p:sldLayoutId xmlns:r="http://schemas.openxmlformats.org/officeDocument/2006/relationships" id="2147483650" r:id="R1c8335f9964f47ff"/>
    <p:sldLayoutId xmlns:r="http://schemas.openxmlformats.org/officeDocument/2006/relationships" id="2147483651" r:id="Ra8127a9167814921"/>
    <p:sldLayoutId xmlns:r="http://schemas.openxmlformats.org/officeDocument/2006/relationships" id="2147483652" r:id="R9f0ac36c5eb34cbe"/>
    <p:sldLayoutId xmlns:r="http://schemas.openxmlformats.org/officeDocument/2006/relationships" id="2147483653" r:id="R1d346fe4107b42d2"/>
    <p:sldLayoutId xmlns:r="http://schemas.openxmlformats.org/officeDocument/2006/relationships" id="2147483654" r:id="R18cbd88aa3f1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14e6cc739bb4f57" Type="http://schemas.openxmlformats.org/officeDocument/2006/relationships/slideLayout" Target="../slideLayouts/slideLayout6.xml"/><Relationship Id="R82cbce3df06845f3" Type="http://schemas.openxmlformats.org/officeDocument/2006/relationships/image" Target="../media/image2.png"/><Relationship Id="Rcf88e7596deb44b7" Type="http://schemas.openxmlformats.org/officeDocument/2006/relationships/notesSlide" Target="../notesSlides/notesSlide1.xml"/><Relationship Id="Re41123364a584680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709b7ffbe3a74d6b" Type="http://schemas.openxmlformats.org/officeDocument/2006/relationships/notesSlide" Target="../notesSlides/notesSlide2.xml"/><Relationship Id="Rb17f51fd8bd64ed9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8aa09dffd97147b0" Type="http://schemas.openxmlformats.org/officeDocument/2006/relationships/slideLayout" Target="../slideLayouts/slideLayout6.xml"/><Relationship Id="Rf6fe0e31dbca415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19127c015f84d78" Type="http://schemas.openxmlformats.org/officeDocument/2006/relationships/slideLayout" Target="../slideLayouts/slideLayout6.xml"/><Relationship Id="R438aada276ec4de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53b188f77f5b4734" Type="http://schemas.openxmlformats.org/officeDocument/2006/relationships/slideLayout" Target="../slideLayouts/slideLayout6.xml"/><Relationship Id="Re5a4a4a7050c4f79" Type="http://schemas.openxmlformats.org/officeDocument/2006/relationships/notesSlide" Target="../notesSlides/notesSlide5.xml"/><Relationship Id="rId3" Type="http://schemas.openxmlformats.org/officeDocument/2006/relationships/hyperlink" Target="https://23-101-172-173.sslip.io/" TargetMode="External"/></Relationships>
</file>

<file path=ppt/slides/_rels/slide6.xml.rels><?xml version='1.0' encoding='UTF-8' standalone='yes'?>
<Relationships xmlns="http://schemas.openxmlformats.org/package/2006/relationships"><Relationship Id="R11e124f941c246f3" Type="http://schemas.openxmlformats.org/officeDocument/2006/relationships/slideLayout" Target="../slideLayouts/slideLayout6.xml"/><Relationship Id="R1cc0e81dfbdf440e" Type="http://schemas.openxmlformats.org/officeDocument/2006/relationships/notesSlide" Target="../notesSlides/notesSlide6.xml"/><Relationship Id="R4078f09eacc84fa9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0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A8DEE-700F-448D-A53E-2A543272B4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123364a584680"/>
          <a:srcRect xmlns:a="http://schemas.openxmlformats.org/drawingml/2006/main" l="19444" t="0" r="19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DE38B-B1E7-4C70-8BC3-29EAA065D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bce3df06845f3"/>
          <a:stretch xmlns:a="http://schemas.openxmlformats.org/drawingml/2006/main"/>
        </p:blipFill>
        <p:spPr>
          <a:xfrm xmlns:a="http://schemas.openxmlformats.org/drawingml/2006/main">
            <a:off x="619125" y="476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0071B-C7AD-4501-95D2-6A647288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477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SAVIA IoT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FAD46-05C3-43FD-B608-116BB202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5191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Servidor web para un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invernadero de tomates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2C9E0-BC27-4976-A386-A8C117B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BED69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BED69"/>
                </a:solidFill>
              </a:defRPr>
            </a:pPr>
            <a:r>
              <a:rPr sz="1650" b="0">
                <a:solidFill>
                  <a:srgbClr val="CBED69"/>
                </a:solidFill>
              </a:rPr>
              <a:t>Práctica 1 · Inteligencia Artificial aplicada a Internet de las Cosas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2EEB1-8638-4061-99DD-99D2FF71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Docente: Jhorman Andrés Villanueva Vivas</a:t>
            </a:r>
          </a:p>
        </p:txBody>
      </p:sp>
    </p:spTree>
    <p:extLst>
      <p:ext uri="{BB962C8B-B14F-4D97-AF65-F5344CB8AC3E}">
        <p14:creationId xmlns:p14="http://schemas.microsoft.com/office/powerpoint/2010/main" val="1904221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350AC-FA03-414A-A067-BEA10D6A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D3028"/>
                </a:solidFill>
              </a:defRPr>
            </a:pPr>
            <a:r>
              <a:rPr sz="3000" b="1">
                <a:solidFill>
                  <a:srgbClr val="0D3028"/>
                </a:solidFill>
              </a:rPr>
              <a:t>Lo que exige la práctica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AE719-9B65-4061-A623-2D09646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A8799-2F8F-4948-B266-B73DE0E6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67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D7157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D7157"/>
                </a:solidFill>
              </a:defRPr>
            </a:pPr>
            <a:r>
              <a:rPr sz="1050" b="1">
                <a:solidFill>
                  <a:srgbClr val="3D715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5E99A-BFB0-427E-B845-A2C540AA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533F"/>
                </a:solidFill>
              </a:defRPr>
            </a:pPr>
            <a:r>
              <a:rPr sz="2550" b="1">
                <a:solidFill>
                  <a:srgbClr val="18533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36602-D467-4C81-9984-3E0636B0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7526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D3028"/>
                </a:solidFill>
              </a:defRPr>
            </a:pPr>
            <a:r>
              <a:rPr sz="2325" b="1">
                <a:solidFill>
                  <a:srgbClr val="0D3028"/>
                </a:solidFill>
              </a:rPr>
              <a:t>ESP32 + DHT22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DDE8E2-8BBD-47B0-B038-447CC550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Leer temperatura y humedad del aire y enviarlas a una aplicación web.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48D97-1756-4C5B-8470-0787F87D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533F"/>
                </a:solidFill>
              </a:defRPr>
            </a:pPr>
            <a:r>
              <a:rPr sz="2550" b="1">
                <a:solidFill>
                  <a:srgbClr val="18533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52304-D438-4650-8164-CBD2D0B7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526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D3028"/>
                </a:solidFill>
              </a:defRPr>
            </a:pPr>
            <a:r>
              <a:rPr sz="2325" b="1">
                <a:solidFill>
                  <a:srgbClr val="0D3028"/>
                </a:solidFill>
              </a:rPr>
              <a:t>Servidor en Ubuntu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F51C2-5DCB-4523-8EA7-CA6E109F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669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Recibir cada lectura, validarla y guardarla en CSV y base de datos.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FEB86-54B8-43A7-A546-E0A74F3E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D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B43BF5-7BFE-4716-A910-F178BBAC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533F"/>
                </a:solidFill>
              </a:defRPr>
            </a:pPr>
            <a:r>
              <a:rPr sz="2550" b="1">
                <a:solidFill>
                  <a:srgbClr val="18533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8C96B-8EA2-4926-B519-B813B5BB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24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D3028"/>
                </a:solidFill>
              </a:defRPr>
            </a:pPr>
            <a:r>
              <a:rPr sz="2325" b="1">
                <a:solidFill>
                  <a:srgbClr val="0D3028"/>
                </a:solidFill>
              </a:rPr>
              <a:t>Repetir en la nube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AC43F-3714-4FA3-90CC-A20CD602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386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VM en subred pública y base de datos en subred privada, con acceso remoto.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10661-29B4-4225-8F2D-A4D1187A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52875"/>
            <a:ext cx="62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533F"/>
                </a:solidFill>
              </a:defRPr>
            </a:pPr>
            <a:r>
              <a:rPr sz="2550" b="1">
                <a:solidFill>
                  <a:srgbClr val="18533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CB673B-1430-4313-A250-7AD9BA76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D3028"/>
                </a:solidFill>
              </a:defRPr>
            </a:pPr>
            <a:r>
              <a:rPr sz="2325" b="1">
                <a:solidFill>
                  <a:srgbClr val="0D3028"/>
                </a:solidFill>
              </a:rPr>
              <a:t>Mostrar evidencia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E8A119-6F40-4C20-B612-F53EEE80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38650"/>
            <a:ext cx="4238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Repositorio GitHub, datos almacenados y presentación del funcionamiento.</a:t>
            </a:r>
          </a:p>
        </p:txBody>
      </p:sp>
    </p:spTree>
    <p:extLst>
      <p:ext uri="{BB962C8B-B14F-4D97-AF65-F5344CB8AC3E}">
        <p14:creationId xmlns:p14="http://schemas.microsoft.com/office/powerpoint/2010/main" val="1633501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AB086-1900-46E7-8D3D-26BE2A89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D3028"/>
                </a:solidFill>
              </a:defRPr>
            </a:pPr>
            <a:r>
              <a:rPr sz="3000" b="1">
                <a:solidFill>
                  <a:srgbClr val="0D3028"/>
                </a:solidFill>
              </a:rPr>
              <a:t>Flujo de datos de Savia IoT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918B1-1175-4AA7-A3F4-2C4BAD78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94D41-1718-43A1-B578-AB66578A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67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D7157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D7157"/>
                </a:solidFill>
              </a:defRPr>
            </a:pPr>
            <a:r>
              <a:rPr sz="1050" b="1">
                <a:solidFill>
                  <a:srgbClr val="3D7157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6FBE3-36A0-42A6-B3B6-1F1521EA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5050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8F2"/>
          </a:solidFill>
          <a:ln xmlns:a="http://schemas.openxmlformats.org/drawingml/2006/main" w="9525">
            <a:solidFill>
              <a:srgbClr val="B7CDB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01C9D-61D4-45F6-81D5-5B84E16E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124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D3028"/>
                </a:solidFill>
              </a:defRPr>
            </a:pPr>
            <a:r>
              <a:rPr sz="2025" b="1">
                <a:solidFill>
                  <a:srgbClr val="0D3028"/>
                </a:solidFill>
              </a:rPr>
              <a:t>Wokwi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2ECB7-850F-4067-957E-F0F3D281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1240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5A"/>
                </a:solidFill>
              </a:defRPr>
            </a:pPr>
            <a:r>
              <a:rPr sz="1425" b="0">
                <a:solidFill>
                  <a:srgbClr val="52645A"/>
                </a:solidFill>
              </a:rPr>
              <a:t>ESP32 + DHT22</a:t>
            </a:r>
          </a:p>
          <a:p xmlns:a="http://schemas.openxmlformats.org/drawingml/2006/main">
            <a:pPr>
              <a:defRPr sz="1425" b="0">
                <a:solidFill>
                  <a:srgbClr val="52645A"/>
                </a:solidFill>
              </a:defRPr>
            </a:pPr>
            <a:r>
              <a:rPr sz="1425" b="0">
                <a:solidFill>
                  <a:srgbClr val="52645A"/>
                </a:solidFill>
              </a:rPr>
              <a:t>lecturas simuladas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4F327-8772-4E40-AB33-F6B5FDF3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600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533F"/>
                </a:solidFill>
              </a:defRPr>
            </a:pPr>
            <a:r>
              <a:rPr sz="3600" b="1">
                <a:solidFill>
                  <a:srgbClr val="18533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DB1528-C107-42ED-805B-44A20BD0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7850"/>
            <a:ext cx="31051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8F2"/>
          </a:solidFill>
          <a:ln xmlns:a="http://schemas.openxmlformats.org/drawingml/2006/main" w="9525">
            <a:solidFill>
              <a:srgbClr val="B7CDB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D7A2B-C08A-4C0E-BCD1-77A22EDA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478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D3028"/>
                </a:solidFill>
              </a:defRPr>
            </a:pPr>
            <a:r>
              <a:rPr sz="2025" b="1">
                <a:solidFill>
                  <a:srgbClr val="0D3028"/>
                </a:solidFill>
              </a:rPr>
              <a:t>MQTT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F8949-0D5E-41CF-9183-7A8A9D04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3365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5A"/>
                </a:solidFill>
              </a:defRPr>
            </a:pPr>
            <a:r>
              <a:rPr sz="1425" b="0">
                <a:solidFill>
                  <a:srgbClr val="52645A"/>
                </a:solidFill>
              </a:rPr>
              <a:t>Dashboard e historial</a:t>
            </a:r>
          </a:p>
          <a:p xmlns:a="http://schemas.openxmlformats.org/drawingml/2006/main">
            <a:pPr>
              <a:defRPr sz="1425" b="0">
                <a:solidFill>
                  <a:srgbClr val="52645A"/>
                </a:solidFill>
              </a:defRPr>
            </a:pPr>
            <a:r>
              <a:rPr sz="1425" b="0">
                <a:solidFill>
                  <a:srgbClr val="52645A"/>
                </a:solidFill>
              </a:rPr>
              <a:t>conservados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0002C-320F-46A4-A5B1-B1AC8411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D7157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D7157"/>
                </a:solidFill>
              </a:defRPr>
            </a:pPr>
            <a:r>
              <a:rPr sz="1350" b="1">
                <a:solidFill>
                  <a:srgbClr val="3D7157"/>
                </a:solidFill>
              </a:rPr>
              <a:t>Conexión existente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6479E-2C39-406B-9468-250DC5CB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00450"/>
            <a:ext cx="523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8533F"/>
                </a:solidFill>
              </a:defRPr>
            </a:pPr>
            <a:r>
              <a:rPr sz="3375" b="1">
                <a:solidFill>
                  <a:srgbClr val="18533F"/>
                </a:solidFill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FE6F8-FBB0-497A-9CA1-BC0F07BB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61962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8F2"/>
          </a:solidFill>
          <a:ln xmlns:a="http://schemas.openxmlformats.org/drawingml/2006/main" w="9525">
            <a:solidFill>
              <a:srgbClr val="B7CD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251ED2-59F1-4531-9843-49A9EC8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D3028"/>
                </a:solidFill>
              </a:defRPr>
            </a:pPr>
            <a:r>
              <a:rPr sz="2025" b="1">
                <a:solidFill>
                  <a:srgbClr val="0D3028"/>
                </a:solidFill>
              </a:rPr>
              <a:t>Puente MQTT en Azure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22A75-0F37-42D4-85DB-8374D595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238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5A"/>
                </a:solidFill>
              </a:defRPr>
            </a:pPr>
            <a:r>
              <a:rPr sz="1425" b="0">
                <a:solidFill>
                  <a:srgbClr val="52645A"/>
                </a:solidFill>
              </a:rPr>
              <a:t>Recibe el canal público de Wokwi y entrega</a:t>
            </a:r>
          </a:p>
          <a:p xmlns:a="http://schemas.openxmlformats.org/drawingml/2006/main">
            <a:pPr>
              <a:defRPr sz="1425" b="0">
                <a:solidFill>
                  <a:srgbClr val="52645A"/>
                </a:solidFill>
              </a:defRPr>
            </a:pPr>
            <a:r>
              <a:rPr sz="1425" b="0">
                <a:solidFill>
                  <a:srgbClr val="52645A"/>
                </a:solidFill>
              </a:rPr>
              <a:t>las lecturas a la aplicación web local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12373-407E-4271-BF8D-F66F7EEC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8577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533F"/>
                </a:solidFill>
              </a:defRPr>
            </a:pPr>
            <a:r>
              <a:rPr sz="3600" b="1">
                <a:solidFill>
                  <a:srgbClr val="18533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FF82B-9B63-4C61-A69B-7AEE29DE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5238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8F2"/>
          </a:solidFill>
          <a:ln xmlns:a="http://schemas.openxmlformats.org/drawingml/2006/main" w="9525">
            <a:solidFill>
              <a:srgbClr val="B7CDB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89C77-52AA-435A-A374-9A0F8BFB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815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D3028"/>
                </a:solidFill>
              </a:defRPr>
            </a:pPr>
            <a:r>
              <a:rPr sz="2025" b="1">
                <a:solidFill>
                  <a:srgbClr val="0D3028"/>
                </a:solidFill>
              </a:rPr>
              <a:t>Servidor Python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56412-7F68-46C7-A0BD-DC6E1797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67300"/>
            <a:ext cx="485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2645A"/>
                </a:solidFill>
              </a:defRPr>
            </a:pPr>
            <a:r>
              <a:rPr sz="1425" b="0">
                <a:solidFill>
                  <a:srgbClr val="52645A"/>
                </a:solidFill>
              </a:rPr>
              <a:t>Valida y almacena en CSV + PostgreSQL</a:t>
            </a:r>
          </a:p>
        </p:txBody>
      </p:sp>
    </p:spTree>
    <p:extLst>
      <p:ext uri="{BB962C8B-B14F-4D97-AF65-F5344CB8AC3E}">
        <p14:creationId xmlns:p14="http://schemas.microsoft.com/office/powerpoint/2010/main" val="8744812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AFECD-3917-4109-887C-580BF64A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D3028"/>
                </a:solidFill>
              </a:defRPr>
            </a:pPr>
            <a:r>
              <a:rPr sz="3000" b="1">
                <a:solidFill>
                  <a:srgbClr val="0D3028"/>
                </a:solidFill>
              </a:rPr>
              <a:t>Servidor local y persistencia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ADC14-4AF7-4102-AD6D-AEEB7291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CA918-FFF4-4FAB-99F1-6D03EE3B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67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D7157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D7157"/>
                </a:solidFill>
              </a:defRPr>
            </a:pPr>
            <a:r>
              <a:rPr sz="1050" b="1">
                <a:solidFill>
                  <a:srgbClr val="3D7157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D663A-AF7E-43E6-891F-9C93F305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533F"/>
                </a:solidFill>
              </a:defRPr>
            </a:pPr>
            <a:r>
              <a:rPr sz="2100" b="1">
                <a:solidFill>
                  <a:srgbClr val="18533F"/>
                </a:solidFill>
              </a:rPr>
              <a:t>Entrada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A680D-E2B0-4D71-8F91-9B6CD6EE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D3028"/>
                </a:solidFill>
              </a:defRPr>
            </a:pPr>
            <a:r>
              <a:rPr sz="2250" b="1">
                <a:solidFill>
                  <a:srgbClr val="0D3028"/>
                </a:solidFill>
              </a:rPr>
              <a:t>POST /api/telemetry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03BCD-74CC-4530-824A-7383856E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4857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0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E021B-F457-4646-92EF-2EC758C1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4286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temperatura: 31,2 °C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humedad: 64,5 %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modo: AUTO</a:t>
            </a:r>
          </a:p>
          <a:p xmlns:a="http://schemas.openxmlformats.org/drawingml/2006/main"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ventilación: encendida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1A9D4-63F5-485E-845C-8D6F1D63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52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533F"/>
                </a:solidFill>
              </a:defRPr>
            </a:pPr>
            <a:r>
              <a:rPr sz="2100" b="1">
                <a:solidFill>
                  <a:srgbClr val="18533F"/>
                </a:solidFill>
              </a:rPr>
              <a:t>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1D73A-BA04-43EF-8EFE-3B623ED0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1457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D3028"/>
                </a:solidFill>
              </a:defRPr>
            </a:pPr>
            <a:r>
              <a:rPr sz="2175" b="1">
                <a:solidFill>
                  <a:srgbClr val="0D3028"/>
                </a:solidFill>
              </a:rPr>
              <a:t>201 · lectura guardada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59067-0D9A-489D-849E-02E29A09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7148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2645A"/>
                </a:solidFill>
              </a:defRPr>
            </a:pPr>
            <a:r>
              <a:rPr sz="1875" b="0">
                <a:solidFill>
                  <a:srgbClr val="52645A"/>
                </a:solidFill>
              </a:rPr>
              <a:t>readings.csv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45A"/>
                </a:solidFill>
              </a:defRPr>
            </a:pPr>
            <a:r>
              <a:rPr sz="1875" b="0">
                <a:solidFill>
                  <a:srgbClr val="52645A"/>
                </a:solidFill>
              </a:rPr>
              <a:t>readings.sqlite3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52645A"/>
                </a:solidFill>
              </a:defRPr>
            </a:pPr>
            <a:r>
              <a:rPr sz="1875" b="0">
                <a:solidFill>
                  <a:srgbClr val="52645A"/>
                </a:solidFill>
              </a:rPr>
              <a:t>Duplicados y valores inválidos se rechazan.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04EF2-FB65-416B-BAE0-52F3F20D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728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533F"/>
                </a:solidFill>
              </a:defRPr>
            </a:pPr>
            <a:r>
              <a:rPr sz="1650" b="1">
                <a:solidFill>
                  <a:srgbClr val="18533F"/>
                </a:solidFill>
              </a:rPr>
              <a:t>Prueba local automatizada: aprobada</a:t>
            </a:r>
          </a:p>
        </p:txBody>
      </p:sp>
    </p:spTree>
    <p:extLst>
      <p:ext uri="{BB962C8B-B14F-4D97-AF65-F5344CB8AC3E}">
        <p14:creationId xmlns:p14="http://schemas.microsoft.com/office/powerpoint/2010/main" val="1799280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DAE27-FD04-426D-AF11-6DE81997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D3028"/>
                </a:solidFill>
              </a:defRPr>
            </a:pPr>
            <a:r>
              <a:rPr sz="3000" b="1">
                <a:solidFill>
                  <a:srgbClr val="0D3028"/>
                </a:solidFill>
              </a:rPr>
              <a:t>Arquitectura Azure desplegada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AD14F-210E-4B3A-81B9-B24B177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D6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82DBD-D564-45B1-93AE-F99743C4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674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D7157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D7157"/>
                </a:solidFill>
              </a:defRPr>
            </a:pPr>
            <a:r>
              <a:rPr sz="1050" b="1">
                <a:solidFill>
                  <a:srgbClr val="3D7157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51806-B08D-4439-99A2-1557041F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533F"/>
                </a:solidFill>
              </a:defRPr>
            </a:pPr>
            <a:r>
              <a:rPr sz="1950" b="1">
                <a:solidFill>
                  <a:srgbClr val="18533F"/>
                </a:solidFill>
              </a:rPr>
              <a:t>IP pública estática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595F5-1CB2-4879-9BE8-9123811E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76475"/>
            <a:ext cx="3476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45A"/>
                </a:solidFill>
              </a:defRPr>
            </a:pPr>
            <a:r>
              <a:rPr sz="1650" b="0">
                <a:solidFill>
                  <a:srgbClr val="52645A"/>
                </a:solidFill>
              </a:rPr>
              <a:t>Equivalente funcional de una IP elástica para localizar el servidor.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6F289-9D31-4488-BB03-C7237121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800225"/>
            <a:ext cx="300037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5F8F2"/>
          </a:solidFill>
          <a:ln xmlns:a="http://schemas.openxmlformats.org/drawingml/2006/main" w="9525">
            <a:solidFill>
              <a:srgbClr val="B7CDB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5955A-8E78-4FF2-BC2B-44E9B563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383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D3028"/>
                </a:solidFill>
              </a:defRPr>
            </a:pPr>
            <a:r>
              <a:rPr sz="2025" b="1">
                <a:solidFill>
                  <a:srgbClr val="0D3028"/>
                </a:solidFill>
              </a:rPr>
              <a:t>Subred pública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5DE8E-FCB8-4CD0-8B46-1AE34165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47950"/>
            <a:ext cx="2476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VM Ubuntu</a:t>
            </a:r>
          </a:p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Servidor Python</a:t>
            </a:r>
          </a:p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Archivo CSV</a:t>
            </a:r>
          </a:p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NSG: HTTPS + SSH limitado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D16F9-3385-46CD-90CF-81EA4C8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194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533F"/>
                </a:solidFill>
              </a:defRPr>
            </a:pPr>
            <a:r>
              <a:rPr sz="3600" b="1">
                <a:solidFill>
                  <a:srgbClr val="18533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9C9F8-C2EC-4683-B4D5-58F3E6DB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00225"/>
            <a:ext cx="31432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5F8F2"/>
          </a:solidFill>
          <a:ln xmlns:a="http://schemas.openxmlformats.org/drawingml/2006/main" w="9525">
            <a:solidFill>
              <a:srgbClr val="B7CDB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C1223-0731-4B1C-AA20-35ECCB97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383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D3028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D3028"/>
                </a:solidFill>
              </a:defRPr>
            </a:pPr>
            <a:r>
              <a:rPr sz="2025" b="1">
                <a:solidFill>
                  <a:srgbClr val="0D3028"/>
                </a:solidFill>
              </a:rPr>
              <a:t>Subred privada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AF4A2-8C40-4CB8-9A7D-2B12BF1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47950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45A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PostgreSQL Flexible Server</a:t>
            </a:r>
          </a:p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Acceso público deshabilitado</a:t>
            </a:r>
          </a:p>
          <a:p xmlns:a="http://schemas.openxmlformats.org/drawingml/2006/main">
            <a:pPr>
              <a:defRPr sz="1725" b="0">
                <a:solidFill>
                  <a:srgbClr val="52645A"/>
                </a:solidFill>
              </a:defRPr>
            </a:pPr>
            <a:r>
              <a:rPr sz="1725" b="0">
                <a:solidFill>
                  <a:srgbClr val="52645A"/>
                </a:solidFill>
              </a:rPr>
              <a:t>DNS privado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02DBC-FF67-4997-B94B-87C329A9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933950"/>
            <a:ext cx="700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D715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3D7157"/>
                </a:solidFill>
              </a:defRPr>
            </a:pPr>
            <a:r>
              <a:rPr sz="1725" b="1">
                <a:solidFill>
                  <a:srgbClr val="3D7157"/>
                </a:solidFill>
              </a:rPr>
              <a:t>La base de datos solo recibe conexiones desde la red virtual.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C3952-06F9-4D74-B6D3-E420BAD2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48350"/>
            <a:ext cx="1019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533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533F"/>
                </a:solidFill>
              </a:defRPr>
            </a:pPr>
            <a:r>
              <a:rPr sz="1650" b="1">
                <a:solidFill>
                  <a:srgbClr val="18533F"/>
                </a:solidFill>
                <a:hlinkClick xmlns:ns0="http://schemas.openxmlformats.org/officeDocument/2006/relationships" ns0:id="rId3"/>
              </a:rPr>
              <a:t>Acceso HTTPS: 23-101-172-173.sslip.io · PostgreSQL privado</a:t>
            </a:r>
          </a:p>
        </p:txBody>
      </p:sp>
    </p:spTree>
    <p:extLst>
      <p:ext uri="{BB962C8B-B14F-4D97-AF65-F5344CB8AC3E}">
        <p14:creationId xmlns:p14="http://schemas.microsoft.com/office/powerpoint/2010/main" val="18104029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30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54A48-C0E4-4DFF-A0DF-964F8E9E9D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8f09eacc84fa9"/>
          <a:stretch xmlns:a="http://schemas.openxmlformats.org/drawingml/2006/main"/>
        </p:blipFill>
        <p:spPr>
          <a:xfrm xmlns:a="http://schemas.openxmlformats.org/drawingml/2006/main">
            <a:off x="9572625" y="495300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E21C2-6428-4CA5-B3F1-49C4ED94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95325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Verificación realizada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A702E-94E9-4638-9955-DD236837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0191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1. Wokwi: sesión a4cb5ad6, lectura #6 (24,0 °C; 65 %).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2. El mismo registro apareció en PostgreSQL y readings.csv.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3. /api/readings es accesible desde Internet.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4. Pruebas del servidor y del puente MQTT: aprobadas.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5. Retirar recursos tras la clase del 24 de octubre.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5FCBF-FC0C-49F3-A4A4-3CBAC1CA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7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5967D-C93C-4393-8560-556B3B97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BED69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BED69"/>
                </a:solidFill>
              </a:defRPr>
            </a:pPr>
            <a:r>
              <a:rPr sz="1500" b="1">
                <a:solidFill>
                  <a:srgbClr val="CBED69"/>
                </a:solidFill>
              </a:rPr>
              <a:t>Equipo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34FDD-6245-4328-BC7D-353D1358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Natalia Hernández Piedrahita · Sidney Leonardo Leusson Angulo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José Fernando Luque Cajiao · Jarvin David Alvarado Garces</a:t>
            </a:r>
          </a:p>
        </p:txBody>
      </p:sp>
    </p:spTree>
    <p:extLst>
      <p:ext uri="{BB962C8B-B14F-4D97-AF65-F5344CB8AC3E}">
        <p14:creationId xmlns:p14="http://schemas.microsoft.com/office/powerpoint/2010/main" val="860112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2026-10-17T16:36:49.8930000Z</dcterms:created>
  <dcterms:modified xsi:type="dcterms:W3CDTF">2026-10-17T16:36:49.8930000Z</dcterms:modified>
</coreProperties>
</file>